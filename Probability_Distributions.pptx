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P(X = x) %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F0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15.6</c:v>
                </c:pt>
                <c:pt idx="2">
                  <c:v>31.3</c:v>
                </c:pt>
                <c:pt idx="3">
                  <c:v>31.3</c:v>
                </c:pt>
                <c:pt idx="4">
                  <c:v>15.6</c:v>
                </c:pt>
                <c:pt idx="5">
                  <c:v>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8F0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8D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8DA"/>
                    </a:solidFill>
                    <a:latin typeface="Arial"/>
                  </a:rPr>
                  <a:t>Number of Heads (x)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8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407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8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247"/>
        </a:solidFill>
        <a:ln w="12700" cap="flat">
          <a:solidFill>
            <a:srgbClr val="23407A"/>
          </a:solidFill>
        </a:ln>
        <a:effectLst/>
      </c:spPr>
    </c:plotArea>
    <c:plotVisOnly val="1"/>
    <c:dispBlanksAs val="span"/>
  </c:chart>
  <c:spPr>
    <a:solidFill>
      <a:srgbClr val="0F224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P(X = x) %</c:v>
                </c:pt>
              </c:strCache>
            </c:strRef>
          </c:tx>
          <c:spPr>
            <a:solidFill>
              <a:srgbClr val="FF8A6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F0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1.8</c:v>
                </c:pt>
                <c:pt idx="1">
                  <c:v>7.3</c:v>
                </c:pt>
                <c:pt idx="2">
                  <c:v>14.7</c:v>
                </c:pt>
                <c:pt idx="3">
                  <c:v>19.5</c:v>
                </c:pt>
                <c:pt idx="4">
                  <c:v>19.5</c:v>
                </c:pt>
                <c:pt idx="5">
                  <c:v>15.6</c:v>
                </c:pt>
                <c:pt idx="6">
                  <c:v>10.4</c:v>
                </c:pt>
                <c:pt idx="7">
                  <c:v>6</c:v>
                </c:pt>
                <c:pt idx="8">
                  <c:v>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E8F0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8D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8DA"/>
                    </a:solidFill>
                    <a:latin typeface="Arial"/>
                  </a:rPr>
                  <a:t>Number of Calls (x)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8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407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8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247"/>
        </a:solidFill>
        <a:ln w="12700" cap="flat">
          <a:solidFill>
            <a:srgbClr val="23407A"/>
          </a:solidFill>
        </a:ln>
        <a:effectLst/>
      </c:spPr>
    </c:plotArea>
    <c:plotVisOnly val="1"/>
    <c:dispBlanksAs val="span"/>
  </c:chart>
  <c:spPr>
    <a:solidFill>
      <a:srgbClr val="0F224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</c:v>
                </c:pt>
              </c:strCache>
            </c:strRef>
          </c:tx>
          <c:spPr>
            <a:solidFill>
              <a:srgbClr val="4DD0B1"/>
            </a:solidFill>
            <a:ln w="31750" cap="flat">
              <a:solidFill>
                <a:srgbClr val="4DD0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DD0B1"/>
              </a:solidFill>
              <a:ln w="9525" cap="flat">
                <a:solidFill>
                  <a:srgbClr val="4DD0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-4</c:v>
                  </c:pt>
                  <c:pt idx="1">
                    <c:v>-3.5</c:v>
                  </c:pt>
                  <c:pt idx="2">
                    <c:v>-3</c:v>
                  </c:pt>
                  <c:pt idx="3">
                    <c:v>-2.5</c:v>
                  </c:pt>
                  <c:pt idx="4">
                    <c:v>-2</c:v>
                  </c:pt>
                  <c:pt idx="5">
                    <c:v>-1.5</c:v>
                  </c:pt>
                  <c:pt idx="6">
                    <c:v>-1</c:v>
                  </c:pt>
                  <c:pt idx="7">
                    <c:v>-0.5</c:v>
                  </c:pt>
                  <c:pt idx="8">
                    <c:v>0</c:v>
                  </c:pt>
                  <c:pt idx="9">
                    <c:v>0.5</c:v>
                  </c:pt>
                  <c:pt idx="10">
                    <c:v>1</c:v>
                  </c:pt>
                  <c:pt idx="11">
                    <c:v>1.5</c:v>
                  </c:pt>
                  <c:pt idx="12">
                    <c:v>2</c:v>
                  </c:pt>
                  <c:pt idx="13">
                    <c:v>2.5</c:v>
                  </c:pt>
                  <c:pt idx="14">
                    <c:v>3</c:v>
                  </c:pt>
                  <c:pt idx="15">
                    <c:v>3.5</c:v>
                  </c:pt>
                  <c:pt idx="16">
                    <c:v>4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0.0001</c:v>
                </c:pt>
                <c:pt idx="1">
                  <c:v>0.0009</c:v>
                </c:pt>
                <c:pt idx="2">
                  <c:v>0.0044</c:v>
                </c:pt>
                <c:pt idx="3">
                  <c:v>0.0175</c:v>
                </c:pt>
                <c:pt idx="4">
                  <c:v>0.054</c:v>
                </c:pt>
                <c:pt idx="5">
                  <c:v>0.1295</c:v>
                </c:pt>
                <c:pt idx="6">
                  <c:v>0.242</c:v>
                </c:pt>
                <c:pt idx="7">
                  <c:v>0.3521</c:v>
                </c:pt>
                <c:pt idx="8">
                  <c:v>0.3989</c:v>
                </c:pt>
                <c:pt idx="9">
                  <c:v>0.3521</c:v>
                </c:pt>
                <c:pt idx="10">
                  <c:v>0.242</c:v>
                </c:pt>
                <c:pt idx="11">
                  <c:v>0.1295</c:v>
                </c:pt>
                <c:pt idx="12">
                  <c:v>0.054</c:v>
                </c:pt>
                <c:pt idx="13">
                  <c:v>0.0175</c:v>
                </c:pt>
                <c:pt idx="14">
                  <c:v>0.0044</c:v>
                </c:pt>
                <c:pt idx="15">
                  <c:v>0.0009</c:v>
                </c:pt>
                <c:pt idx="16">
                  <c:v>0.0001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8D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8DA"/>
                    </a:solidFill>
                    <a:latin typeface="Arial"/>
                  </a:rPr>
                  <a:t>Standard Deviations from Mean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8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247"/>
        </a:solidFill>
        <a:ln w="12700" cap="flat">
          <a:solidFill>
            <a:srgbClr val="23407A"/>
          </a:solidFill>
        </a:ln>
        <a:effectLst/>
      </c:spPr>
    </c:plotArea>
    <c:plotVisOnly val="1"/>
    <c:dispBlanksAs val="span"/>
  </c:chart>
  <c:spPr>
    <a:solidFill>
      <a:srgbClr val="0F22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E2B5C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0E2B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SEMINAR ON STATISTICAL FOUNDATIONS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7043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Distributions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 ·  Poisson  ·  Gaussian (Normal) Distribution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3502152" cy="2834640"/>
          </a:xfrm>
          <a:prstGeom prst="roundRect">
            <a:avLst>
              <a:gd name="adj" fmla="val 3226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3840480"/>
            <a:ext cx="310896" cy="320040"/>
          </a:xfrm>
          <a:prstGeom prst="roundRect">
            <a:avLst>
              <a:gd name="adj" fmla="val 8824"/>
            </a:avLst>
          </a:prstGeom>
          <a:solidFill>
            <a:srgbClr val="4FC3F7"/>
          </a:solidFill>
          <a:ln/>
        </p:spPr>
      </p:sp>
      <p:sp>
        <p:nvSpPr>
          <p:cNvPr id="9" name="Shape 7"/>
          <p:cNvSpPr/>
          <p:nvPr/>
        </p:nvSpPr>
        <p:spPr>
          <a:xfrm>
            <a:off x="1581912" y="3657600"/>
            <a:ext cx="310896" cy="502920"/>
          </a:xfrm>
          <a:prstGeom prst="roundRect">
            <a:avLst>
              <a:gd name="adj" fmla="val 8824"/>
            </a:avLst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2020824" y="3429000"/>
            <a:ext cx="310896" cy="731520"/>
          </a:xfrm>
          <a:prstGeom prst="roundRect">
            <a:avLst>
              <a:gd name="adj" fmla="val 8824"/>
            </a:avLst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114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44805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· Fixed Trials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4846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successes across a fixed number of independent trials.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9432" y="3063240"/>
            <a:ext cx="3502152" cy="2834640"/>
          </a:xfrm>
          <a:prstGeom prst="roundRect">
            <a:avLst>
              <a:gd name="adj" fmla="val 3226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65192" y="344728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9512" y="358444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68112" y="340156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381304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9240" y="3767328"/>
            <a:ext cx="182880" cy="18288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4114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19472" y="44805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· Event Counts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4846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events occurring in a fixed interval of time or space.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75904" y="3063240"/>
            <a:ext cx="3502152" cy="2834640"/>
          </a:xfrm>
          <a:prstGeom prst="roundRect">
            <a:avLst>
              <a:gd name="adj" fmla="val 3226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95944" y="3383280"/>
            <a:ext cx="822960" cy="5029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25" name="Shape 23"/>
          <p:cNvSpPr/>
          <p:nvPr/>
        </p:nvSpPr>
        <p:spPr>
          <a:xfrm>
            <a:off x="8833104" y="3566160"/>
            <a:ext cx="548640" cy="384048"/>
          </a:xfrm>
          <a:prstGeom prst="ellipse">
            <a:avLst/>
          </a:prstGeom>
          <a:solidFill>
            <a:srgbClr val="132B57"/>
          </a:solidFill>
          <a:ln/>
        </p:spPr>
      </p:sp>
      <p:sp>
        <p:nvSpPr>
          <p:cNvPr id="26" name="Text 24"/>
          <p:cNvSpPr/>
          <p:nvPr/>
        </p:nvSpPr>
        <p:spPr>
          <a:xfrm>
            <a:off x="8695944" y="4114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95944" y="448056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· Bell Curve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95944" y="4846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continuous data that clusters symmetrically about a mean.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Data Science  •  Rajalakshmi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Probability Distribution?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371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function that shows the probability of every possible outcome of a random event — it explains how likely each result is, and how values are spread across a dataset.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ANSWER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807208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chance of getting a particular result?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264408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values distributed across a dataset?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721608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outcomes vary around the average?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TYPES — COVERED TODAY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Countable values — Binomial &amp; Poisson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623560"/>
            <a:ext cx="44805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715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D0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053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values — Gaussian (Normal)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51460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vs Continuous, at a Glance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434840"/>
            <a:ext cx="292608" cy="411480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0" y="4023360"/>
            <a:ext cx="292608" cy="822960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0" y="3611880"/>
            <a:ext cx="292608" cy="1234440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520" y="4105656"/>
            <a:ext cx="292608" cy="740664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0" y="4517136"/>
            <a:ext cx="292608" cy="329184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4846320"/>
            <a:ext cx="246888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4114800"/>
            <a:ext cx="2194560" cy="11887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31" name="Shape 29"/>
          <p:cNvSpPr/>
          <p:nvPr/>
        </p:nvSpPr>
        <p:spPr>
          <a:xfrm>
            <a:off x="9372600" y="4434840"/>
            <a:ext cx="1554480" cy="868680"/>
          </a:xfrm>
          <a:prstGeom prst="ellipse">
            <a:avLst/>
          </a:prstGeom>
          <a:solidFill>
            <a:srgbClr val="132B57"/>
          </a:solidFill>
          <a:ln/>
        </p:spPr>
      </p:sp>
      <p:sp>
        <p:nvSpPr>
          <p:cNvPr id="32" name="Shape 30"/>
          <p:cNvSpPr/>
          <p:nvPr/>
        </p:nvSpPr>
        <p:spPr>
          <a:xfrm>
            <a:off x="9052560" y="4846320"/>
            <a:ext cx="21945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5623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data takes separate, countable values (0, 1, 2 …). Continuous data can take any value within a range, forming a smooth curve.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APPLIES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63624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6304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number of trials (n)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4708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outcomes: success or failure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3113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success (p) stays constant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46304" cy="146304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151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trial is independent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383280"/>
            <a:ext cx="37490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P(X=x) = C(n,x) · pˣ · (1−p)ⁿ⁻ˣ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863340"/>
            <a:ext cx="374904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number of trials    x = number of successes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probability of success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1188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 — N = 5, P = 0.5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74920" y="1508760"/>
          <a:ext cx="61722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617720"/>
            <a:ext cx="6172200" cy="1051560"/>
          </a:xfrm>
          <a:prstGeom prst="roundRect">
            <a:avLst>
              <a:gd name="adj" fmla="val 8696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828032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17320" y="473659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a coin 5 times — probability of exactly 3 heads?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trials, two outcomes → Binomial. P(X=3) = 31.3%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0372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0372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01000" y="493776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7" name="Text 24"/>
          <p:cNvSpPr/>
          <p:nvPr/>
        </p:nvSpPr>
        <p:spPr>
          <a:xfrm>
            <a:off x="800100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0100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Exams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098280" y="493776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0" name="Text 27"/>
          <p:cNvSpPr/>
          <p:nvPr/>
        </p:nvSpPr>
        <p:spPr>
          <a:xfrm>
            <a:off x="90982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09828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195560" y="493776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3" name="Text 30"/>
          <p:cNvSpPr/>
          <p:nvPr/>
        </p:nvSpPr>
        <p:spPr>
          <a:xfrm>
            <a:off x="1019556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19556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Analysis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APPLIES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63624"/>
            <a:ext cx="146304" cy="146304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6304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events in a fixed interval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146304" cy="146304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4708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may be time, distance, or area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46304" cy="146304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3113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occur independently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46304" cy="146304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151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rate (λ) is known and constant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383280"/>
            <a:ext cx="37490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6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P(X=x) = (e⁻λ · λˣ) / x!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863340"/>
            <a:ext cx="374904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average number of events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number of occurrences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1188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 — Λ = 4 CALLS/HOUR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74920" y="1508760"/>
          <a:ext cx="61722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617720"/>
            <a:ext cx="6172200" cy="1051560"/>
          </a:xfrm>
          <a:prstGeom prst="roundRect">
            <a:avLst>
              <a:gd name="adj" fmla="val 8696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828032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17320" y="473659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receives 4 emergency calls/hour on average — probability of exactly 2 calls next hour?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P(X=2) = 14.7%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0372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0372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Arrivals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01000" y="493776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7" name="Text 24"/>
          <p:cNvSpPr/>
          <p:nvPr/>
        </p:nvSpPr>
        <p:spPr>
          <a:xfrm>
            <a:off x="800100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0100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Accidents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098280" y="493776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30" name="Text 27"/>
          <p:cNvSpPr/>
          <p:nvPr/>
        </p:nvSpPr>
        <p:spPr>
          <a:xfrm>
            <a:off x="90982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09828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195560" y="493776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33" name="Text 30"/>
          <p:cNvSpPr/>
          <p:nvPr/>
        </p:nvSpPr>
        <p:spPr>
          <a:xfrm>
            <a:off x="1019556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19556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(Normal)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63624"/>
            <a:ext cx="146304" cy="146304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6304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Symmetrical, bell-shaped curve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146304" cy="146304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4708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Median = Mode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46304" cy="146304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31136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values lie near the center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46304" cy="146304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6151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are rare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383280"/>
            <a:ext cx="37490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DD0B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(1/σ√2π) · e^(−(x−μ)²/2σ²)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863340"/>
            <a:ext cx="374904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mean      σ = standard deviation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1188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CURVE — STANDARD NORMAL (Μ = 0, Σ = 1)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74920" y="1508760"/>
          <a:ext cx="61722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617720"/>
            <a:ext cx="6172200" cy="1051560"/>
          </a:xfrm>
          <a:prstGeom prst="roundRect">
            <a:avLst>
              <a:gd name="adj" fmla="val 8696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828032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17320" y="473659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height, student marks, IQ scores, and blood pressure readings all naturally cluster into this bell-shaped pattern.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0372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DD0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0372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01000" y="4937760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27" name="Text 24"/>
          <p:cNvSpPr/>
          <p:nvPr/>
        </p:nvSpPr>
        <p:spPr>
          <a:xfrm>
            <a:off x="800100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0100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098280" y="4937760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30" name="Text 27"/>
          <p:cNvSpPr/>
          <p:nvPr/>
        </p:nvSpPr>
        <p:spPr>
          <a:xfrm>
            <a:off x="90982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09828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195560" y="4937760"/>
            <a:ext cx="457200" cy="45720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33" name="Text 30"/>
          <p:cNvSpPr/>
          <p:nvPr/>
        </p:nvSpPr>
        <p:spPr>
          <a:xfrm>
            <a:off x="1019556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195560" y="5449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Three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63240" y="1280160"/>
            <a:ext cx="3063240" cy="685800"/>
          </a:xfrm>
          <a:prstGeom prst="roundRect">
            <a:avLst>
              <a:gd name="adj" fmla="val 13333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63240" y="1280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3063240" cy="685800"/>
          </a:xfrm>
          <a:prstGeom prst="roundRect">
            <a:avLst>
              <a:gd name="adj" fmla="val 13333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1280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464040" y="1280160"/>
            <a:ext cx="3063240" cy="685800"/>
          </a:xfrm>
          <a:prstGeom prst="roundRect">
            <a:avLst>
              <a:gd name="adj" fmla="val 13333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64040" y="12801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DD0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63240" y="210312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103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103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64040" y="210312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2103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63240" y="315468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315468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(lambda)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64040" y="315468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μ, σ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4206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Nature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63240" y="420624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420624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Count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464040" y="420624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012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Values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5257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063240" y="525780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0" y="5257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Toss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63640" y="525780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0" y="5257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464040" y="525780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5257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864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answer the same question — “how likely is this outcome?” — but for different kinds of data: fixed-trial counts, event rates, or continuous measurements.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SHOW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64208"/>
            <a:ext cx="3429000" cy="39319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Predictions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502152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Testing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279392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672584"/>
            <a:ext cx="502920" cy="5029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62686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Testing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60520" y="12801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60520" y="12801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FF8A65"/>
          </a:solidFill>
          <a:ln/>
        </p:spPr>
      </p:sp>
      <p:sp>
        <p:nvSpPr>
          <p:cNvPr id="21" name="Shape 19"/>
          <p:cNvSpPr/>
          <p:nvPr/>
        </p:nvSpPr>
        <p:spPr>
          <a:xfrm>
            <a:off x="4160520" y="1664208"/>
            <a:ext cx="3429000" cy="393192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1280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80560" y="2331720"/>
            <a:ext cx="502920" cy="5029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Received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434840" y="3108960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502152"/>
            <a:ext cx="502920" cy="5029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Arrivals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79392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4672584"/>
            <a:ext cx="502920" cy="5029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32" name="Text 30"/>
          <p:cNvSpPr/>
          <p:nvPr/>
        </p:nvSpPr>
        <p:spPr>
          <a:xfrm>
            <a:off x="448056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462686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772400" y="12801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0" y="12801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4DD0B1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0" y="1664208"/>
            <a:ext cx="3429000" cy="393192"/>
          </a:xfrm>
          <a:prstGeom prst="rect">
            <a:avLst/>
          </a:prstGeom>
          <a:solidFill>
            <a:srgbClr val="4DD0B1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1280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092440" y="2331720"/>
            <a:ext cx="502920" cy="5029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3252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046720" y="3108960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2440" y="3502152"/>
            <a:ext cx="502920" cy="5029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43" name="Text 41"/>
          <p:cNvSpPr/>
          <p:nvPr/>
        </p:nvSpPr>
        <p:spPr>
          <a:xfrm>
            <a:off x="80924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32520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046720" y="4279392"/>
            <a:ext cx="2880360" cy="0"/>
          </a:xfrm>
          <a:prstGeom prst="line">
            <a:avLst/>
          </a:prstGeom>
          <a:noFill/>
          <a:ln w="12700">
            <a:solidFill>
              <a:srgbClr val="2340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92440" y="4672584"/>
            <a:ext cx="502920" cy="502920"/>
          </a:xfrm>
          <a:prstGeom prst="ellipse">
            <a:avLst/>
          </a:prstGeom>
          <a:solidFill>
            <a:srgbClr val="4DD0B1"/>
          </a:solidFill>
          <a:ln/>
        </p:spPr>
      </p:sp>
      <p:sp>
        <p:nvSpPr>
          <p:cNvPr id="47" name="Text 45"/>
          <p:cNvSpPr/>
          <p:nvPr/>
        </p:nvSpPr>
        <p:spPr>
          <a:xfrm>
            <a:off x="809244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32520" y="4626864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Probability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Uncertainty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quantify and reason about uncertain, real-world events.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69080" y="13258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97680" y="2103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53288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decision-making under risk with data-backed probabilities.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132588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181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818120" y="21031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 AI &amp; ML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8120" y="253288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mathematical backbone of Machine Learning and AI models.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Enables Prediction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09320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forecasting and deep data analysis across domains.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69080" y="388620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Universally Applied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97680" y="509320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across science, business, healthcare, and engineering.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388620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0" y="3886200"/>
            <a:ext cx="2788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coin tosses to neural networks — the same probability principles scale across every field.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  |  Prathiksha  |  AI &amp; 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0E2B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Distribution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experiments with a fixed number of trials and two possible outcomes.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7452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8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counting how often events occur over a fixed time or space interval.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160020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132B5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87452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DD0B1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DD0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75904" y="260604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continuous data that follows a natural, symmetric bell-shaped pattern.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0F2247"/>
          </a:solidFill>
          <a:ln w="12700">
            <a:solidFill>
              <a:srgbClr val="23407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663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Together, these three distributions form the statistical foundation behind Machine Learning, Artificial Intelligence, finance, and healthcare analytics — turning uncertainty into measurable, actionable insight.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0" y="6199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Prathiksha  |  AI &amp; 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2026-07-29T01:46:58Z</dcterms:created>
  <dcterms:modified xsi:type="dcterms:W3CDTF">2026-07-29T01:46:58Z</dcterms:modified>
</cp:coreProperties>
</file>