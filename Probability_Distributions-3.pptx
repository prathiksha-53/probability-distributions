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486400" cy="5486400"/>
          </a:xfrm>
          <a:prstGeom prst="ellipse">
            <a:avLst/>
          </a:prstGeom>
          <a:solidFill>
            <a:srgbClr val="0E2B5C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206240"/>
            <a:ext cx="5029200" cy="5029200"/>
          </a:xfrm>
          <a:prstGeom prst="ellipse">
            <a:avLst/>
          </a:prstGeom>
          <a:solidFill>
            <a:srgbClr val="0E2B5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22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SEMINAR ON STATISTICAL FOUNDATIONS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170432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Probability Distributions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208483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Binomial  ·  Poisson  ·  Gaussian (Normal) Distribution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3063240"/>
            <a:ext cx="3502152" cy="2834640"/>
          </a:xfrm>
          <a:prstGeom prst="roundRect">
            <a:avLst>
              <a:gd name="adj" fmla="val 3226"/>
            </a:avLst>
          </a:prstGeom>
          <a:solidFill>
            <a:srgbClr val="132B5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43000" y="3840480"/>
            <a:ext cx="310896" cy="320040"/>
          </a:xfrm>
          <a:prstGeom prst="roundRect">
            <a:avLst>
              <a:gd name="adj" fmla="val 8824"/>
            </a:avLst>
          </a:prstGeom>
          <a:solidFill>
            <a:srgbClr val="4FC3F7"/>
          </a:solidFill>
          <a:ln/>
        </p:spPr>
      </p:sp>
      <p:sp>
        <p:nvSpPr>
          <p:cNvPr id="9" name="Shape 7"/>
          <p:cNvSpPr/>
          <p:nvPr/>
        </p:nvSpPr>
        <p:spPr>
          <a:xfrm>
            <a:off x="1581912" y="3657600"/>
            <a:ext cx="310896" cy="502920"/>
          </a:xfrm>
          <a:prstGeom prst="roundRect">
            <a:avLst>
              <a:gd name="adj" fmla="val 8824"/>
            </a:avLst>
          </a:prstGeom>
          <a:solidFill>
            <a:srgbClr val="4FC3F7"/>
          </a:solidFill>
          <a:ln/>
        </p:spPr>
      </p:sp>
      <p:sp>
        <p:nvSpPr>
          <p:cNvPr id="10" name="Shape 8"/>
          <p:cNvSpPr/>
          <p:nvPr/>
        </p:nvSpPr>
        <p:spPr>
          <a:xfrm>
            <a:off x="2020824" y="3429000"/>
            <a:ext cx="310896" cy="731520"/>
          </a:xfrm>
          <a:prstGeom prst="roundRect">
            <a:avLst>
              <a:gd name="adj" fmla="val 8824"/>
            </a:avLst>
          </a:prstGeom>
          <a:solidFill>
            <a:srgbClr val="4FC3F7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11480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Binomial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43000" y="4480560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· Fixed Trials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43000" y="484632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successes across a fixed number of independent trials.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99432" y="3063240"/>
            <a:ext cx="3502152" cy="2834640"/>
          </a:xfrm>
          <a:prstGeom prst="roundRect">
            <a:avLst>
              <a:gd name="adj" fmla="val 3226"/>
            </a:avLst>
          </a:prstGeom>
          <a:solidFill>
            <a:srgbClr val="132B5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65192" y="3447288"/>
            <a:ext cx="182880" cy="182880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16" name="Shape 14"/>
          <p:cNvSpPr/>
          <p:nvPr/>
        </p:nvSpPr>
        <p:spPr>
          <a:xfrm>
            <a:off x="5239512" y="3584448"/>
            <a:ext cx="182880" cy="182880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17" name="Shape 15"/>
          <p:cNvSpPr/>
          <p:nvPr/>
        </p:nvSpPr>
        <p:spPr>
          <a:xfrm>
            <a:off x="5468112" y="3401568"/>
            <a:ext cx="182880" cy="182880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18" name="Shape 16"/>
          <p:cNvSpPr/>
          <p:nvPr/>
        </p:nvSpPr>
        <p:spPr>
          <a:xfrm>
            <a:off x="5102352" y="3813048"/>
            <a:ext cx="182880" cy="182880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19" name="Shape 17"/>
          <p:cNvSpPr/>
          <p:nvPr/>
        </p:nvSpPr>
        <p:spPr>
          <a:xfrm>
            <a:off x="5349240" y="3767328"/>
            <a:ext cx="182880" cy="182880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20" name="Text 18"/>
          <p:cNvSpPr/>
          <p:nvPr/>
        </p:nvSpPr>
        <p:spPr>
          <a:xfrm>
            <a:off x="4919472" y="411480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Poisson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919472" y="4480560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· Event Counts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19472" y="484632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events occurring in a fixed interval of time or space.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375904" y="3063240"/>
            <a:ext cx="3502152" cy="2834640"/>
          </a:xfrm>
          <a:prstGeom prst="roundRect">
            <a:avLst>
              <a:gd name="adj" fmla="val 3226"/>
            </a:avLst>
          </a:prstGeom>
          <a:solidFill>
            <a:srgbClr val="132B5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695944" y="3383280"/>
            <a:ext cx="822960" cy="502920"/>
          </a:xfrm>
          <a:prstGeom prst="ellipse">
            <a:avLst/>
          </a:prstGeom>
          <a:solidFill>
            <a:srgbClr val="4DD0B1"/>
          </a:solidFill>
          <a:ln/>
        </p:spPr>
      </p:sp>
      <p:sp>
        <p:nvSpPr>
          <p:cNvPr id="25" name="Shape 23"/>
          <p:cNvSpPr/>
          <p:nvPr/>
        </p:nvSpPr>
        <p:spPr>
          <a:xfrm>
            <a:off x="8833104" y="3566160"/>
            <a:ext cx="548640" cy="384048"/>
          </a:xfrm>
          <a:prstGeom prst="ellipse">
            <a:avLst/>
          </a:prstGeom>
          <a:solidFill>
            <a:srgbClr val="132B57"/>
          </a:solidFill>
          <a:ln/>
        </p:spPr>
      </p:sp>
      <p:sp>
        <p:nvSpPr>
          <p:cNvPr id="26" name="Text 24"/>
          <p:cNvSpPr/>
          <p:nvPr/>
        </p:nvSpPr>
        <p:spPr>
          <a:xfrm>
            <a:off x="8695944" y="411480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Gaussian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695944" y="4480560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D0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· Bell Curve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695944" y="484632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continuous data that clusters symmetrically about a mean.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22960" y="6263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Artificial Intelligence &amp; Data Science  •  Rajalakshmi Institute of Technology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Probability Distribution?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0698480" cy="1051560"/>
          </a:xfrm>
          <a:prstGeom prst="roundRect">
            <a:avLst>
              <a:gd name="adj" fmla="val 8696"/>
            </a:avLst>
          </a:prstGeom>
          <a:solidFill>
            <a:srgbClr val="132B5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3716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mathematical function that shows the probability of every possible outcome of a random event — it explains how likely each result is, and how values are spread across a dataset.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HELPS ANSWER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907792"/>
            <a:ext cx="146304" cy="146304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807208"/>
            <a:ext cx="4864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chance of getting a particular result?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364992"/>
            <a:ext cx="146304" cy="146304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3264408"/>
            <a:ext cx="4864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values distributed across a dataset?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822192"/>
            <a:ext cx="146304" cy="146304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3721608"/>
            <a:ext cx="4864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do outcomes vary around the average?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MAIN TYPES — COVERED TODAY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5120640" cy="1417320"/>
          </a:xfrm>
          <a:prstGeom prst="roundRect">
            <a:avLst>
              <a:gd name="adj" fmla="val 6452"/>
            </a:avLst>
          </a:prstGeom>
          <a:solidFill>
            <a:srgbClr val="0F224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4892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Discrete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52303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Countable values — Binomial &amp; Poisson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5623560"/>
            <a:ext cx="4480560" cy="0"/>
          </a:xfrm>
          <a:prstGeom prst="line">
            <a:avLst/>
          </a:prstGeom>
          <a:noFill/>
          <a:ln w="12700">
            <a:solidFill>
              <a:srgbClr val="2340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715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D0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60533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values — Gaussian (Normal)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0" y="2514600"/>
            <a:ext cx="5303520" cy="3657600"/>
          </a:xfrm>
          <a:prstGeom prst="roundRect">
            <a:avLst>
              <a:gd name="adj" fmla="val 2500"/>
            </a:avLst>
          </a:prstGeom>
          <a:solidFill>
            <a:srgbClr val="132B5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17920" y="26974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Discrete vs Continuous, at a Glance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17920" y="3200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4434840"/>
            <a:ext cx="292608" cy="411480"/>
          </a:xfrm>
          <a:prstGeom prst="roundRect">
            <a:avLst>
              <a:gd name="adj" fmla="val 6250"/>
            </a:avLst>
          </a:prstGeom>
          <a:solidFill>
            <a:srgbClr val="4FC3F7"/>
          </a:solidFill>
          <a:ln/>
        </p:spPr>
      </p:sp>
      <p:sp>
        <p:nvSpPr>
          <p:cNvPr id="24" name="Shape 22"/>
          <p:cNvSpPr/>
          <p:nvPr/>
        </p:nvSpPr>
        <p:spPr>
          <a:xfrm>
            <a:off x="6675120" y="4023360"/>
            <a:ext cx="292608" cy="822960"/>
          </a:xfrm>
          <a:prstGeom prst="roundRect">
            <a:avLst>
              <a:gd name="adj" fmla="val 6250"/>
            </a:avLst>
          </a:prstGeom>
          <a:solidFill>
            <a:srgbClr val="4FC3F7"/>
          </a:solidFill>
          <a:ln/>
        </p:spPr>
      </p:sp>
      <p:sp>
        <p:nvSpPr>
          <p:cNvPr id="25" name="Shape 23"/>
          <p:cNvSpPr/>
          <p:nvPr/>
        </p:nvSpPr>
        <p:spPr>
          <a:xfrm>
            <a:off x="7132320" y="3611880"/>
            <a:ext cx="292608" cy="1234440"/>
          </a:xfrm>
          <a:prstGeom prst="roundRect">
            <a:avLst>
              <a:gd name="adj" fmla="val 6250"/>
            </a:avLst>
          </a:prstGeom>
          <a:solidFill>
            <a:srgbClr val="4FC3F7"/>
          </a:solidFill>
          <a:ln/>
        </p:spPr>
      </p:sp>
      <p:sp>
        <p:nvSpPr>
          <p:cNvPr id="26" name="Shape 24"/>
          <p:cNvSpPr/>
          <p:nvPr/>
        </p:nvSpPr>
        <p:spPr>
          <a:xfrm>
            <a:off x="7589520" y="4105656"/>
            <a:ext cx="292608" cy="740664"/>
          </a:xfrm>
          <a:prstGeom prst="roundRect">
            <a:avLst>
              <a:gd name="adj" fmla="val 6250"/>
            </a:avLst>
          </a:prstGeom>
          <a:solidFill>
            <a:srgbClr val="4FC3F7"/>
          </a:solidFill>
          <a:ln/>
        </p:spPr>
      </p:sp>
      <p:sp>
        <p:nvSpPr>
          <p:cNvPr id="27" name="Shape 25"/>
          <p:cNvSpPr/>
          <p:nvPr/>
        </p:nvSpPr>
        <p:spPr>
          <a:xfrm>
            <a:off x="8046720" y="4517136"/>
            <a:ext cx="292608" cy="329184"/>
          </a:xfrm>
          <a:prstGeom prst="roundRect">
            <a:avLst>
              <a:gd name="adj" fmla="val 6250"/>
            </a:avLst>
          </a:prstGeom>
          <a:solidFill>
            <a:srgbClr val="4FC3F7"/>
          </a:solidFill>
          <a:ln/>
        </p:spPr>
      </p:sp>
      <p:sp>
        <p:nvSpPr>
          <p:cNvPr id="28" name="Shape 26"/>
          <p:cNvSpPr/>
          <p:nvPr/>
        </p:nvSpPr>
        <p:spPr>
          <a:xfrm>
            <a:off x="6217920" y="4846320"/>
            <a:ext cx="2468880" cy="0"/>
          </a:xfrm>
          <a:prstGeom prst="line">
            <a:avLst/>
          </a:prstGeom>
          <a:noFill/>
          <a:ln w="12700">
            <a:solidFill>
              <a:srgbClr val="2340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52560" y="3200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D0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052560" y="4114800"/>
            <a:ext cx="2194560" cy="1188720"/>
          </a:xfrm>
          <a:prstGeom prst="ellipse">
            <a:avLst/>
          </a:prstGeom>
          <a:solidFill>
            <a:srgbClr val="4DD0B1"/>
          </a:solidFill>
          <a:ln/>
        </p:spPr>
      </p:sp>
      <p:sp>
        <p:nvSpPr>
          <p:cNvPr id="31" name="Shape 29"/>
          <p:cNvSpPr/>
          <p:nvPr/>
        </p:nvSpPr>
        <p:spPr>
          <a:xfrm>
            <a:off x="9372600" y="4434840"/>
            <a:ext cx="1554480" cy="868680"/>
          </a:xfrm>
          <a:prstGeom prst="ellipse">
            <a:avLst/>
          </a:prstGeom>
          <a:solidFill>
            <a:srgbClr val="132B57"/>
          </a:solidFill>
          <a:ln/>
        </p:spPr>
      </p:sp>
      <p:sp>
        <p:nvSpPr>
          <p:cNvPr id="32" name="Shape 30"/>
          <p:cNvSpPr/>
          <p:nvPr/>
        </p:nvSpPr>
        <p:spPr>
          <a:xfrm>
            <a:off x="9052560" y="4846320"/>
            <a:ext cx="2194560" cy="0"/>
          </a:xfrm>
          <a:prstGeom prst="line">
            <a:avLst/>
          </a:prstGeom>
          <a:noFill/>
          <a:ln w="12700">
            <a:solidFill>
              <a:srgbClr val="23407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5623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data takes separate, countable values (0, 1, 2 …). Continuous data can take any value within a range, forming a smooth curve.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Distributions  |  Prathiksha  |  AI &amp; DS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DISTRIBUTION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Binomial Distribution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APPLIES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63624"/>
            <a:ext cx="146304" cy="146304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463040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number of trials (n)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947672"/>
            <a:ext cx="146304" cy="146304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847088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two outcomes: success or failure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46304" cy="146304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231136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of success (p) stays constant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715768"/>
            <a:ext cx="146304" cy="146304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2615184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trial is independent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4206240" cy="1234440"/>
          </a:xfrm>
          <a:prstGeom prst="roundRect">
            <a:avLst>
              <a:gd name="adj" fmla="val 7407"/>
            </a:avLst>
          </a:prstGeom>
          <a:solidFill>
            <a:srgbClr val="0F224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3383280"/>
            <a:ext cx="3749040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FC3F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P(X=x) = C(n,x) · pˣ · (1−p)ⁿ⁻ˣ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77240" y="3863340"/>
            <a:ext cx="3749040" cy="567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number of trials    x = number of successes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probability of success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74920" y="118872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SHAPE — N = 5, P = 0.5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74920" y="1508760"/>
            <a:ext cx="617220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pic>
        <p:nvPicPr>
          <p:cNvPr id="18" name="Image 0" descr="/home/claude/ppt/charts/binom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0851" y="1783080"/>
            <a:ext cx="3800338" cy="21031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074920" y="4206240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Heads (x)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48640" y="4617720"/>
            <a:ext cx="6172200" cy="1051560"/>
          </a:xfrm>
          <a:prstGeom prst="roundRect">
            <a:avLst>
              <a:gd name="adj" fmla="val 8696"/>
            </a:avLst>
          </a:prstGeom>
          <a:solidFill>
            <a:srgbClr val="0F224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77240" y="4828032"/>
            <a:ext cx="457200" cy="457200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22" name="Text 19"/>
          <p:cNvSpPr/>
          <p:nvPr/>
        </p:nvSpPr>
        <p:spPr>
          <a:xfrm>
            <a:off x="777240" y="4809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417320" y="4736592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Toss a coin 5 times — probability of exactly 3 heads?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trials, two outcomes → Binomial. P(X=3) = 31.3%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903720" y="4617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903720" y="4937760"/>
            <a:ext cx="457200" cy="457200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26" name="Text 23"/>
          <p:cNvSpPr/>
          <p:nvPr/>
        </p:nvSpPr>
        <p:spPr>
          <a:xfrm>
            <a:off x="6903720" y="4919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903720" y="544982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8001000" y="4937760"/>
            <a:ext cx="457200" cy="457200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29" name="Text 26"/>
          <p:cNvSpPr/>
          <p:nvPr/>
        </p:nvSpPr>
        <p:spPr>
          <a:xfrm>
            <a:off x="8001000" y="4919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001000" y="544982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Pass/Fail Exams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9098280" y="4937760"/>
            <a:ext cx="457200" cy="457200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32" name="Text 29"/>
          <p:cNvSpPr/>
          <p:nvPr/>
        </p:nvSpPr>
        <p:spPr>
          <a:xfrm>
            <a:off x="9098280" y="4919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9098280" y="544982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Trials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10195560" y="4937760"/>
            <a:ext cx="457200" cy="457200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35" name="Text 32"/>
          <p:cNvSpPr/>
          <p:nvPr/>
        </p:nvSpPr>
        <p:spPr>
          <a:xfrm>
            <a:off x="10195560" y="4919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0195560" y="544982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Analysis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Distributions  |  Prathiksha  |  AI &amp; DS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8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DISTRIBUTION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Poisson Distribution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8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APPLIES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63624"/>
            <a:ext cx="146304" cy="146304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463040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events in a fixed interval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947672"/>
            <a:ext cx="146304" cy="146304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847088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 may be time, distance, or area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46304" cy="146304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231136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occur independently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715768"/>
            <a:ext cx="146304" cy="146304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2615184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rate (λ) is known and constant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4206240" cy="1234440"/>
          </a:xfrm>
          <a:prstGeom prst="roundRect">
            <a:avLst>
              <a:gd name="adj" fmla="val 7407"/>
            </a:avLst>
          </a:prstGeom>
          <a:solidFill>
            <a:srgbClr val="0F224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3383280"/>
            <a:ext cx="3749040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8A65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P(X=x) = (e⁻λ · λˣ) / x!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77240" y="3863340"/>
            <a:ext cx="3749040" cy="567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average number of events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number of occurrences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74920" y="118872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8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SHAPE — Λ = 4 CALLS/HOUR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74920" y="1508760"/>
            <a:ext cx="617220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pic>
        <p:nvPicPr>
          <p:cNvPr id="18" name="Image 0" descr="/home/claude/ppt/charts/pois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0851" y="1783080"/>
            <a:ext cx="3800338" cy="21031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074920" y="4206240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Calls (x)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48640" y="4617720"/>
            <a:ext cx="6172200" cy="1051560"/>
          </a:xfrm>
          <a:prstGeom prst="roundRect">
            <a:avLst>
              <a:gd name="adj" fmla="val 8696"/>
            </a:avLst>
          </a:prstGeom>
          <a:solidFill>
            <a:srgbClr val="0F224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77240" y="4828032"/>
            <a:ext cx="457200" cy="457200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22" name="Text 19"/>
          <p:cNvSpPr/>
          <p:nvPr/>
        </p:nvSpPr>
        <p:spPr>
          <a:xfrm>
            <a:off x="777240" y="4809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417320" y="4736592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hospital receives 4 emergency calls/hour on average — probability of exactly 2 calls next hour?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P(X=2) = 14.7%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903720" y="4617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8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903720" y="4937760"/>
            <a:ext cx="457200" cy="457200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26" name="Text 23"/>
          <p:cNvSpPr/>
          <p:nvPr/>
        </p:nvSpPr>
        <p:spPr>
          <a:xfrm>
            <a:off x="6903720" y="4919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903720" y="544982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Arrivals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8001000" y="4937760"/>
            <a:ext cx="457200" cy="457200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29" name="Text 26"/>
          <p:cNvSpPr/>
          <p:nvPr/>
        </p:nvSpPr>
        <p:spPr>
          <a:xfrm>
            <a:off x="8001000" y="4919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001000" y="544982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Accidents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9098280" y="4937760"/>
            <a:ext cx="457200" cy="457200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32" name="Text 29"/>
          <p:cNvSpPr/>
          <p:nvPr/>
        </p:nvSpPr>
        <p:spPr>
          <a:xfrm>
            <a:off x="9098280" y="4919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9098280" y="544982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Visits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10195560" y="4937760"/>
            <a:ext cx="457200" cy="457200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35" name="Text 32"/>
          <p:cNvSpPr/>
          <p:nvPr/>
        </p:nvSpPr>
        <p:spPr>
          <a:xfrm>
            <a:off x="10195560" y="4919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0195560" y="544982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Failures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Distributions  |  Prathiksha  |  AI &amp; DS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DD0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DISTRIBUTION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Gaussian (Normal) Distribution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4DD0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63624"/>
            <a:ext cx="146304" cy="146304"/>
          </a:xfrm>
          <a:prstGeom prst="ellipse">
            <a:avLst/>
          </a:prstGeom>
          <a:solidFill>
            <a:srgbClr val="4DD0B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463040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Symmetrical, bell-shaped curve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947672"/>
            <a:ext cx="146304" cy="146304"/>
          </a:xfrm>
          <a:prstGeom prst="ellipse">
            <a:avLst/>
          </a:prstGeom>
          <a:solidFill>
            <a:srgbClr val="4DD0B1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847088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= Median = Mode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46304" cy="146304"/>
          </a:xfrm>
          <a:prstGeom prst="ellipse">
            <a:avLst/>
          </a:prstGeom>
          <a:solidFill>
            <a:srgbClr val="4DD0B1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231136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values lie near the center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715768"/>
            <a:ext cx="146304" cy="146304"/>
          </a:xfrm>
          <a:prstGeom prst="ellipse">
            <a:avLst/>
          </a:prstGeom>
          <a:solidFill>
            <a:srgbClr val="4DD0B1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2615184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values are rare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4206240" cy="1234440"/>
          </a:xfrm>
          <a:prstGeom prst="roundRect">
            <a:avLst>
              <a:gd name="adj" fmla="val 7407"/>
            </a:avLst>
          </a:prstGeom>
          <a:solidFill>
            <a:srgbClr val="0F224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3383280"/>
            <a:ext cx="3749040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DD0B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f(x) = (1/σ√2π) · e^(−(x−μ)²/2σ²)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77240" y="3863340"/>
            <a:ext cx="3749040" cy="567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= mean      σ = standard deviation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74920" y="118872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4DD0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BELL CURVE — STANDARD NORMAL (Μ = 0, Σ = 1)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74920" y="1508760"/>
            <a:ext cx="617220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pic>
        <p:nvPicPr>
          <p:cNvPr id="18" name="Image 0" descr="/home/claude/ppt/charts/gaussi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0851" y="1783080"/>
            <a:ext cx="3800338" cy="21031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074920" y="4206240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Deviations from Mean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48640" y="4617720"/>
            <a:ext cx="6172200" cy="1051560"/>
          </a:xfrm>
          <a:prstGeom prst="roundRect">
            <a:avLst>
              <a:gd name="adj" fmla="val 8696"/>
            </a:avLst>
          </a:prstGeom>
          <a:solidFill>
            <a:srgbClr val="0F224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77240" y="4828032"/>
            <a:ext cx="457200" cy="457200"/>
          </a:xfrm>
          <a:prstGeom prst="ellipse">
            <a:avLst/>
          </a:prstGeom>
          <a:solidFill>
            <a:srgbClr val="4DD0B1"/>
          </a:solidFill>
          <a:ln/>
        </p:spPr>
      </p:sp>
      <p:sp>
        <p:nvSpPr>
          <p:cNvPr id="22" name="Text 19"/>
          <p:cNvSpPr/>
          <p:nvPr/>
        </p:nvSpPr>
        <p:spPr>
          <a:xfrm>
            <a:off x="777240" y="4809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417320" y="4736592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height, student marks, IQ scores, and blood pressure readings all naturally cluster into this bell-shaped pattern.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903720" y="4617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4DD0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903720" y="4937760"/>
            <a:ext cx="457200" cy="457200"/>
          </a:xfrm>
          <a:prstGeom prst="ellipse">
            <a:avLst/>
          </a:prstGeom>
          <a:solidFill>
            <a:srgbClr val="4DD0B1"/>
          </a:solidFill>
          <a:ln/>
        </p:spPr>
      </p:sp>
      <p:sp>
        <p:nvSpPr>
          <p:cNvPr id="26" name="Text 23"/>
          <p:cNvSpPr/>
          <p:nvPr/>
        </p:nvSpPr>
        <p:spPr>
          <a:xfrm>
            <a:off x="6903720" y="4919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903720" y="544982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8001000" y="4937760"/>
            <a:ext cx="457200" cy="457200"/>
          </a:xfrm>
          <a:prstGeom prst="ellipse">
            <a:avLst/>
          </a:prstGeom>
          <a:solidFill>
            <a:srgbClr val="4DD0B1"/>
          </a:solidFill>
          <a:ln/>
        </p:spPr>
      </p:sp>
      <p:sp>
        <p:nvSpPr>
          <p:cNvPr id="29" name="Text 26"/>
          <p:cNvSpPr/>
          <p:nvPr/>
        </p:nvSpPr>
        <p:spPr>
          <a:xfrm>
            <a:off x="8001000" y="4919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001000" y="544982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9098280" y="4937760"/>
            <a:ext cx="457200" cy="457200"/>
          </a:xfrm>
          <a:prstGeom prst="ellipse">
            <a:avLst/>
          </a:prstGeom>
          <a:solidFill>
            <a:srgbClr val="4DD0B1"/>
          </a:solidFill>
          <a:ln/>
        </p:spPr>
      </p:sp>
      <p:sp>
        <p:nvSpPr>
          <p:cNvPr id="32" name="Text 29"/>
          <p:cNvSpPr/>
          <p:nvPr/>
        </p:nvSpPr>
        <p:spPr>
          <a:xfrm>
            <a:off x="9098280" y="4919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9098280" y="544982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10195560" y="4937760"/>
            <a:ext cx="457200" cy="457200"/>
          </a:xfrm>
          <a:prstGeom prst="ellipse">
            <a:avLst/>
          </a:prstGeom>
          <a:solidFill>
            <a:srgbClr val="4DD0B1"/>
          </a:solidFill>
          <a:ln/>
        </p:spPr>
      </p:sp>
      <p:sp>
        <p:nvSpPr>
          <p:cNvPr id="35" name="Text 32"/>
          <p:cNvSpPr/>
          <p:nvPr/>
        </p:nvSpPr>
        <p:spPr>
          <a:xfrm>
            <a:off x="10195560" y="4919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0195560" y="544982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Research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Distributions  |  Prathiksha  |  AI &amp; DS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the Three Distributions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063240" y="1280160"/>
            <a:ext cx="3063240" cy="685800"/>
          </a:xfrm>
          <a:prstGeom prst="roundRect">
            <a:avLst>
              <a:gd name="adj" fmla="val 13333"/>
            </a:avLst>
          </a:prstGeom>
          <a:solidFill>
            <a:srgbClr val="132B5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063240" y="12801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Binomial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63640" y="1280160"/>
            <a:ext cx="3063240" cy="685800"/>
          </a:xfrm>
          <a:prstGeom prst="roundRect">
            <a:avLst>
              <a:gd name="adj" fmla="val 13333"/>
            </a:avLst>
          </a:prstGeom>
          <a:solidFill>
            <a:srgbClr val="132B5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63640" y="12801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8A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Poisson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464040" y="1280160"/>
            <a:ext cx="3063240" cy="685800"/>
          </a:xfrm>
          <a:prstGeom prst="roundRect">
            <a:avLst>
              <a:gd name="adj" fmla="val 13333"/>
            </a:avLst>
          </a:prstGeom>
          <a:solidFill>
            <a:srgbClr val="132B5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464040" y="12801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DD0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Gaussian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0F224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21031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063240" y="2103120"/>
            <a:ext cx="3063240" cy="914400"/>
          </a:xfrm>
          <a:prstGeom prst="roundRect">
            <a:avLst>
              <a:gd name="adj" fmla="val 10000"/>
            </a:avLst>
          </a:prstGeom>
          <a:solidFill>
            <a:srgbClr val="132B5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0" y="210312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2103120"/>
            <a:ext cx="3063240" cy="914400"/>
          </a:xfrm>
          <a:prstGeom prst="roundRect">
            <a:avLst>
              <a:gd name="adj" fmla="val 10000"/>
            </a:avLst>
          </a:prstGeom>
          <a:solidFill>
            <a:srgbClr val="132B5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0" y="210312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464040" y="2103120"/>
            <a:ext cx="3063240" cy="914400"/>
          </a:xfrm>
          <a:prstGeom prst="roundRect">
            <a:avLst>
              <a:gd name="adj" fmla="val 10000"/>
            </a:avLst>
          </a:prstGeom>
          <a:solidFill>
            <a:srgbClr val="132B5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0" y="210312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15468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0F224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" y="31546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063240" y="3154680"/>
            <a:ext cx="3063240" cy="914400"/>
          </a:xfrm>
          <a:prstGeom prst="roundRect">
            <a:avLst>
              <a:gd name="adj" fmla="val 10000"/>
            </a:avLst>
          </a:prstGeom>
          <a:solidFill>
            <a:srgbClr val="132B5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0" y="315468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n, p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63640" y="3154680"/>
            <a:ext cx="3063240" cy="914400"/>
          </a:xfrm>
          <a:prstGeom prst="roundRect">
            <a:avLst>
              <a:gd name="adj" fmla="val 10000"/>
            </a:avLst>
          </a:prstGeom>
          <a:solidFill>
            <a:srgbClr val="132B5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0" y="315468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(lambda)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464040" y="3154680"/>
            <a:ext cx="3063240" cy="914400"/>
          </a:xfrm>
          <a:prstGeom prst="roundRect">
            <a:avLst>
              <a:gd name="adj" fmla="val 10000"/>
            </a:avLst>
          </a:prstGeom>
          <a:solidFill>
            <a:srgbClr val="132B5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601200" y="315468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μ, σ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420624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0F224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31520" y="42062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Nature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063240" y="4206240"/>
            <a:ext cx="3063240" cy="914400"/>
          </a:xfrm>
          <a:prstGeom prst="roundRect">
            <a:avLst>
              <a:gd name="adj" fmla="val 10000"/>
            </a:avLst>
          </a:prstGeom>
          <a:solidFill>
            <a:srgbClr val="132B5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200400" y="420624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/ Failure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263640" y="4206240"/>
            <a:ext cx="3063240" cy="914400"/>
          </a:xfrm>
          <a:prstGeom prst="roundRect">
            <a:avLst>
              <a:gd name="adj" fmla="val 10000"/>
            </a:avLst>
          </a:prstGeom>
          <a:solidFill>
            <a:srgbClr val="132B5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00800" y="420624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Count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464040" y="4206240"/>
            <a:ext cx="3063240" cy="914400"/>
          </a:xfrm>
          <a:prstGeom prst="roundRect">
            <a:avLst>
              <a:gd name="adj" fmla="val 10000"/>
            </a:avLst>
          </a:prstGeom>
          <a:solidFill>
            <a:srgbClr val="132B5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601200" y="420624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Values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48640" y="525780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0F224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31520" y="52578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Example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063240" y="5257800"/>
            <a:ext cx="3063240" cy="914400"/>
          </a:xfrm>
          <a:prstGeom prst="roundRect">
            <a:avLst>
              <a:gd name="adj" fmla="val 10000"/>
            </a:avLst>
          </a:prstGeom>
          <a:solidFill>
            <a:srgbClr val="132B5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200400" y="525780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 Toss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263640" y="5257800"/>
            <a:ext cx="3063240" cy="914400"/>
          </a:xfrm>
          <a:prstGeom prst="roundRect">
            <a:avLst>
              <a:gd name="adj" fmla="val 10000"/>
            </a:avLst>
          </a:prstGeom>
          <a:solidFill>
            <a:srgbClr val="132B5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400800" y="525780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Calls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9464040" y="5257800"/>
            <a:ext cx="3063240" cy="914400"/>
          </a:xfrm>
          <a:prstGeom prst="roundRect">
            <a:avLst>
              <a:gd name="adj" fmla="val 10000"/>
            </a:avLst>
          </a:prstGeom>
          <a:solidFill>
            <a:srgbClr val="132B5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9601200" y="525780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Heights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48640" y="61722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answer the same question — “how likely is this outcome?” — but for different kinds of data: fixed-trial counts, event rates, or continuous measurements.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Distributions  |  Prathiksha  |  AI &amp; DS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SHOW 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Real-Life Applications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429000" cy="4709160"/>
          </a:xfrm>
          <a:prstGeom prst="roundRect">
            <a:avLst>
              <a:gd name="adj" fmla="val 2667"/>
            </a:avLst>
          </a:prstGeom>
          <a:solidFill>
            <a:srgbClr val="132B5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3429000" cy="777240"/>
          </a:xfrm>
          <a:prstGeom prst="roundRect">
            <a:avLst>
              <a:gd name="adj" fmla="val 11765"/>
            </a:avLst>
          </a:prstGeom>
          <a:solidFill>
            <a:srgbClr val="4FC3F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64208"/>
            <a:ext cx="3429000" cy="393192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8016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Binomial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68680" y="2331720"/>
            <a:ext cx="502920" cy="502920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13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08760" y="22860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Election Predictions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3108960"/>
            <a:ext cx="2880360" cy="0"/>
          </a:xfrm>
          <a:prstGeom prst="line">
            <a:avLst/>
          </a:prstGeom>
          <a:noFill/>
          <a:ln w="12700">
            <a:solidFill>
              <a:srgbClr val="2340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3502152"/>
            <a:ext cx="502920" cy="502920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483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08760" y="345643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Quality Testing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" y="4279392"/>
            <a:ext cx="2880360" cy="0"/>
          </a:xfrm>
          <a:prstGeom prst="line">
            <a:avLst/>
          </a:prstGeom>
          <a:noFill/>
          <a:ln w="12700">
            <a:solidFill>
              <a:srgbClr val="2340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4672584"/>
            <a:ext cx="502920" cy="502920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654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08760" y="4626864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Testing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160520" y="1280160"/>
            <a:ext cx="3429000" cy="4709160"/>
          </a:xfrm>
          <a:prstGeom prst="roundRect">
            <a:avLst>
              <a:gd name="adj" fmla="val 2667"/>
            </a:avLst>
          </a:prstGeom>
          <a:solidFill>
            <a:srgbClr val="132B5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60520" y="1280160"/>
            <a:ext cx="3429000" cy="777240"/>
          </a:xfrm>
          <a:prstGeom prst="roundRect">
            <a:avLst>
              <a:gd name="adj" fmla="val 11765"/>
            </a:avLst>
          </a:prstGeom>
          <a:solidFill>
            <a:srgbClr val="FF8A65"/>
          </a:solidFill>
          <a:ln/>
        </p:spPr>
      </p:sp>
      <p:sp>
        <p:nvSpPr>
          <p:cNvPr id="21" name="Shape 19"/>
          <p:cNvSpPr/>
          <p:nvPr/>
        </p:nvSpPr>
        <p:spPr>
          <a:xfrm>
            <a:off x="4160520" y="1664208"/>
            <a:ext cx="3429000" cy="393192"/>
          </a:xfrm>
          <a:prstGeom prst="rect">
            <a:avLst/>
          </a:prstGeom>
          <a:solidFill>
            <a:srgbClr val="FF8A65"/>
          </a:solidFill>
          <a:ln/>
        </p:spPr>
      </p:sp>
      <p:sp>
        <p:nvSpPr>
          <p:cNvPr id="22" name="Text 20"/>
          <p:cNvSpPr/>
          <p:nvPr/>
        </p:nvSpPr>
        <p:spPr>
          <a:xfrm>
            <a:off x="4160520" y="128016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Poisson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480560" y="2331720"/>
            <a:ext cx="502920" cy="502920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24" name="Text 22"/>
          <p:cNvSpPr/>
          <p:nvPr/>
        </p:nvSpPr>
        <p:spPr>
          <a:xfrm>
            <a:off x="4480560" y="2313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20640" y="22860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Received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434840" y="3108960"/>
            <a:ext cx="2880360" cy="0"/>
          </a:xfrm>
          <a:prstGeom prst="line">
            <a:avLst/>
          </a:prstGeom>
          <a:noFill/>
          <a:ln w="12700">
            <a:solidFill>
              <a:srgbClr val="23407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80560" y="3502152"/>
            <a:ext cx="502920" cy="502920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28" name="Text 26"/>
          <p:cNvSpPr/>
          <p:nvPr/>
        </p:nvSpPr>
        <p:spPr>
          <a:xfrm>
            <a:off x="4480560" y="3483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20640" y="345643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Arrivals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4434840" y="4279392"/>
            <a:ext cx="2880360" cy="0"/>
          </a:xfrm>
          <a:prstGeom prst="line">
            <a:avLst/>
          </a:prstGeom>
          <a:noFill/>
          <a:ln w="12700">
            <a:solidFill>
              <a:srgbClr val="23407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80560" y="4672584"/>
            <a:ext cx="502920" cy="502920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32" name="Text 30"/>
          <p:cNvSpPr/>
          <p:nvPr/>
        </p:nvSpPr>
        <p:spPr>
          <a:xfrm>
            <a:off x="4480560" y="4654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20640" y="4626864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7772400" y="1280160"/>
            <a:ext cx="3429000" cy="4709160"/>
          </a:xfrm>
          <a:prstGeom prst="roundRect">
            <a:avLst>
              <a:gd name="adj" fmla="val 2667"/>
            </a:avLst>
          </a:prstGeom>
          <a:solidFill>
            <a:srgbClr val="132B5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772400" y="1280160"/>
            <a:ext cx="3429000" cy="777240"/>
          </a:xfrm>
          <a:prstGeom prst="roundRect">
            <a:avLst>
              <a:gd name="adj" fmla="val 11765"/>
            </a:avLst>
          </a:prstGeom>
          <a:solidFill>
            <a:srgbClr val="4DD0B1"/>
          </a:solidFill>
          <a:ln/>
        </p:spPr>
      </p:sp>
      <p:sp>
        <p:nvSpPr>
          <p:cNvPr id="36" name="Shape 34"/>
          <p:cNvSpPr/>
          <p:nvPr/>
        </p:nvSpPr>
        <p:spPr>
          <a:xfrm>
            <a:off x="7772400" y="1664208"/>
            <a:ext cx="3429000" cy="393192"/>
          </a:xfrm>
          <a:prstGeom prst="rect">
            <a:avLst/>
          </a:prstGeom>
          <a:solidFill>
            <a:srgbClr val="4DD0B1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0" y="128016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Gaussian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8092440" y="2331720"/>
            <a:ext cx="502920" cy="502920"/>
          </a:xfrm>
          <a:prstGeom prst="ellipse">
            <a:avLst/>
          </a:prstGeom>
          <a:solidFill>
            <a:srgbClr val="4DD0B1"/>
          </a:solidFill>
          <a:ln/>
        </p:spPr>
      </p:sp>
      <p:sp>
        <p:nvSpPr>
          <p:cNvPr id="39" name="Text 37"/>
          <p:cNvSpPr/>
          <p:nvPr/>
        </p:nvSpPr>
        <p:spPr>
          <a:xfrm>
            <a:off x="8092440" y="2313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732520" y="22860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8046720" y="3108960"/>
            <a:ext cx="2880360" cy="0"/>
          </a:xfrm>
          <a:prstGeom prst="line">
            <a:avLst/>
          </a:prstGeom>
          <a:noFill/>
          <a:ln w="12700">
            <a:solidFill>
              <a:srgbClr val="23407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92440" y="3502152"/>
            <a:ext cx="502920" cy="502920"/>
          </a:xfrm>
          <a:prstGeom prst="ellipse">
            <a:avLst/>
          </a:prstGeom>
          <a:solidFill>
            <a:srgbClr val="4DD0B1"/>
          </a:solidFill>
          <a:ln/>
        </p:spPr>
      </p:sp>
      <p:sp>
        <p:nvSpPr>
          <p:cNvPr id="43" name="Text 41"/>
          <p:cNvSpPr/>
          <p:nvPr/>
        </p:nvSpPr>
        <p:spPr>
          <a:xfrm>
            <a:off x="8092440" y="3483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732520" y="345643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8046720" y="4279392"/>
            <a:ext cx="2880360" cy="0"/>
          </a:xfrm>
          <a:prstGeom prst="line">
            <a:avLst/>
          </a:prstGeom>
          <a:noFill/>
          <a:ln w="12700">
            <a:solidFill>
              <a:srgbClr val="23407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092440" y="4672584"/>
            <a:ext cx="502920" cy="502920"/>
          </a:xfrm>
          <a:prstGeom prst="ellipse">
            <a:avLst/>
          </a:prstGeom>
          <a:solidFill>
            <a:srgbClr val="4DD0B1"/>
          </a:solidFill>
          <a:ln/>
        </p:spPr>
      </p:sp>
      <p:sp>
        <p:nvSpPr>
          <p:cNvPr id="47" name="Text 45"/>
          <p:cNvSpPr/>
          <p:nvPr/>
        </p:nvSpPr>
        <p:spPr>
          <a:xfrm>
            <a:off x="8092440" y="4654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732520" y="4626864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Market Analysis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Distributions  |  Prathiksha  |  AI &amp; DS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of Probability Distributions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337560" cy="2331720"/>
          </a:xfrm>
          <a:prstGeom prst="roundRect">
            <a:avLst>
              <a:gd name="adj" fmla="val 3922"/>
            </a:avLst>
          </a:prstGeom>
          <a:solidFill>
            <a:srgbClr val="132B5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08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 Uncertainty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532888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quantify and reason about uncertain, real-world events.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069080" y="1325880"/>
            <a:ext cx="3337560" cy="2331720"/>
          </a:xfrm>
          <a:prstGeom prst="roundRect">
            <a:avLst>
              <a:gd name="adj" fmla="val 3922"/>
            </a:avLst>
          </a:prstGeom>
          <a:solidFill>
            <a:srgbClr val="132B5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97680" y="1508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297680" y="21031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Decisions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97680" y="2532888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decision-making under risk with data-backed probabilities.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589520" y="1325880"/>
            <a:ext cx="3337560" cy="2331720"/>
          </a:xfrm>
          <a:prstGeom prst="roundRect">
            <a:avLst>
              <a:gd name="adj" fmla="val 3922"/>
            </a:avLst>
          </a:prstGeom>
          <a:solidFill>
            <a:srgbClr val="132B5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818120" y="1508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818120" y="21031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Powers AI &amp; ML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818120" y="2532888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the mathematical backbone of Machine Learning and AI models.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3337560" cy="2331720"/>
          </a:xfrm>
          <a:prstGeom prst="roundRect">
            <a:avLst>
              <a:gd name="adj" fmla="val 3922"/>
            </a:avLst>
          </a:prstGeom>
          <a:solidFill>
            <a:srgbClr val="132B5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069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77240" y="46634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Enables Prediction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5093208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forecasting and deep data analysis across domains.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069080" y="3886200"/>
            <a:ext cx="3337560" cy="2331720"/>
          </a:xfrm>
          <a:prstGeom prst="roundRect">
            <a:avLst>
              <a:gd name="adj" fmla="val 3922"/>
            </a:avLst>
          </a:prstGeom>
          <a:solidFill>
            <a:srgbClr val="132B5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297680" y="4069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297680" y="46634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Universally Applied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297680" y="5093208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used across science, business, healthcare, and engineering.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589520" y="3886200"/>
            <a:ext cx="3337560" cy="2331720"/>
          </a:xfrm>
          <a:prstGeom prst="roundRect">
            <a:avLst>
              <a:gd name="adj" fmla="val 3922"/>
            </a:avLst>
          </a:prstGeom>
          <a:solidFill>
            <a:srgbClr val="0F224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863840" y="3886200"/>
            <a:ext cx="27889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i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coin tosses to neural networks — the same probability principles scale across every field.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Distributions  |  Prathiksha  |  AI &amp; DS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463040"/>
            <a:ext cx="5029200" cy="5029200"/>
          </a:xfrm>
          <a:prstGeom prst="ellipse">
            <a:avLst/>
          </a:prstGeom>
          <a:solidFill>
            <a:srgbClr val="0E2B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Right Distribution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502152" cy="2651760"/>
          </a:xfrm>
          <a:prstGeom prst="roundRect">
            <a:avLst>
              <a:gd name="adj" fmla="val 3448"/>
            </a:avLst>
          </a:prstGeom>
          <a:solidFill>
            <a:srgbClr val="132B5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74520"/>
            <a:ext cx="502920" cy="91440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5740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Binomial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29535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experiments with a fixed number of trials and two possible outcomes.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25112" y="1600200"/>
            <a:ext cx="3502152" cy="2651760"/>
          </a:xfrm>
          <a:prstGeom prst="roundRect">
            <a:avLst>
              <a:gd name="adj" fmla="val 3448"/>
            </a:avLst>
          </a:prstGeom>
          <a:solidFill>
            <a:srgbClr val="132B5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9432" y="1874520"/>
            <a:ext cx="502920" cy="91440"/>
          </a:xfrm>
          <a:prstGeom prst="roundRect">
            <a:avLst>
              <a:gd name="adj" fmla="val 50000"/>
            </a:avLst>
          </a:prstGeom>
          <a:solidFill>
            <a:srgbClr val="FF8A65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205740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8A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Poisson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599432" y="2606040"/>
            <a:ext cx="29535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counting how often events occur over a fixed time or space interval.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01584" y="1600200"/>
            <a:ext cx="3502152" cy="2651760"/>
          </a:xfrm>
          <a:prstGeom prst="roundRect">
            <a:avLst>
              <a:gd name="adj" fmla="val 3448"/>
            </a:avLst>
          </a:prstGeom>
          <a:solidFill>
            <a:srgbClr val="132B5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75904" y="1874520"/>
            <a:ext cx="502920" cy="91440"/>
          </a:xfrm>
          <a:prstGeom prst="roundRect">
            <a:avLst>
              <a:gd name="adj" fmla="val 50000"/>
            </a:avLst>
          </a:prstGeom>
          <a:solidFill>
            <a:srgbClr val="4DD0B1"/>
          </a:solidFill>
          <a:ln/>
        </p:spPr>
      </p:sp>
      <p:sp>
        <p:nvSpPr>
          <p:cNvPr id="15" name="Text 13"/>
          <p:cNvSpPr/>
          <p:nvPr/>
        </p:nvSpPr>
        <p:spPr>
          <a:xfrm>
            <a:off x="8375904" y="205740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DD0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Gaussian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375904" y="2606040"/>
            <a:ext cx="29535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continuous data that follows a natural, symmetric bell-shaped pattern.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526280"/>
            <a:ext cx="10698480" cy="1371600"/>
          </a:xfrm>
          <a:prstGeom prst="roundRect">
            <a:avLst>
              <a:gd name="adj" fmla="val 6667"/>
            </a:avLst>
          </a:prstGeom>
          <a:solidFill>
            <a:srgbClr val="0F224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6634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Together, these three distributions form the statistical foundation behind Machine Learning, Artificial Intelligence, finance, and healthcare analytics — turning uncertainty into measurable, actionable insight.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6126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772400" y="61996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Prathiksha  |  AI &amp; DS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2026-07-29T02:10:00Z</dcterms:created>
  <dcterms:modified xsi:type="dcterms:W3CDTF">2026-07-29T02:10:00Z</dcterms:modified>
</cp:coreProperties>
</file>